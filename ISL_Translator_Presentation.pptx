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82880"/>
            <a:ext cx="64008" cy="470916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of Text to Gesture in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4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using HamNoSys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58368" y="2148840"/>
            <a:ext cx="7863840" cy="43891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1762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ICS-851  ·  Major Project  ·  B.Tech – Computer Science &amp; Engineering  ·  Session 2025–26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2743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9992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Singh Rathod   ·   Akshit Singh   ·   Utkarsh Awasthi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3547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" y="38130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Upendra Kumar  (Supervisor)   ·   Er. Shraddha Keshav Tripathi  (Co-Supervisor)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4251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Institute of Engineering and Technology, Lucknow  –  AKTU, Uttar Pradesh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69848"/>
            <a:ext cx="118872" cy="118872"/>
          </a:xfrm>
          <a:prstGeom prst="ellipse">
            <a:avLst/>
          </a:prstGeom>
          <a:solidFill>
            <a:srgbClr val="4B8BF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96696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is the primary mode of communication for millions of Deaf and hard-of-hearing individuals worldwide.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118872" cy="118872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09344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India, Indian Sign Language (ISL) is used by 63 million+ deaf or hard-of-hearing individuals.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95144"/>
            <a:ext cx="118872" cy="118872"/>
          </a:xfrm>
          <a:prstGeom prst="ellipse">
            <a:avLst/>
          </a:prstGeom>
          <a:solidFill>
            <a:srgbClr val="4B8B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2199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communication gap exists due to limited translation tools and scarcity of trained interpreters.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118872" cy="118872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3464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ISL dictionaries rely on human-recorded videos — slow, static, and hard to scale.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18872" cy="118872"/>
          </a:xfrm>
          <a:prstGeom prst="ellipse">
            <a:avLst/>
          </a:prstGeom>
          <a:solidFill>
            <a:srgbClr val="4B8BF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47288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3D-avatar animations are more efficient, consistent, and memory-friendly than video.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33088"/>
            <a:ext cx="118872" cy="118872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59936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the gap by building an automated Text → ISL animation system.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987552"/>
            <a:ext cx="2194560" cy="107899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987552"/>
            <a:ext cx="64008" cy="1078992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10789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63M+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62940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/ HoH in India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2286000"/>
            <a:ext cx="2194560" cy="107899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2286000"/>
            <a:ext cx="64008" cy="107899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377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29400" y="2898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Signs Mapped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3584448"/>
            <a:ext cx="2194560" cy="107899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3584448"/>
            <a:ext cx="64008" cy="107899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36758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629400" y="41970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Avatar Animation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Literature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960120"/>
            <a:ext cx="2633472" cy="17556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60120"/>
            <a:ext cx="2633472" cy="64008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698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Dictionary using Synthetic Animations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~1200-word ISL dictionary via virtual avatar. Uses HamNoSys &amp; SiGML — directly aligned with our approach.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Sinha &amp; Majumder, 2022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82112" y="960120"/>
            <a:ext cx="2633472" cy="17556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960120"/>
            <a:ext cx="2633472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698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Dictionary: Extension Work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155448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vocabulary using synthetic animations and virtual characters. Highlights HamNoSys advantage for standardized ISL notation.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251460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Sharma, 2023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16752" y="960120"/>
            <a:ext cx="2633472" cy="17556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16752" y="960120"/>
            <a:ext cx="2633472" cy="64008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0698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Speech to ISL using NLP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155448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audio/text input, applies tokenization &amp; lemmatization, then maps to ISL grammar signs. Relevant to our translation pipeline.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26480" y="251460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Vasishta et al., 2022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2926080"/>
            <a:ext cx="2633472" cy="17556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926080"/>
            <a:ext cx="2633472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3580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Translate: Translation Dataset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31k ISL–English sentence pairs dataset. Benchmarks a transformer-based model for ISL — largest dataset to date.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et al., ACL 2023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82112" y="2926080"/>
            <a:ext cx="2633472" cy="17556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2926080"/>
            <a:ext cx="2633472" cy="6400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03580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Integrative Survey: ISL Recognition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352044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ISL recognition and translation literature up to 2025. Helps identify research gaps and future directions.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91840" y="448056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 Research, 2025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16752" y="2926080"/>
            <a:ext cx="2633472" cy="17556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16752" y="2926080"/>
            <a:ext cx="2633472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03580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Translation System (English Text)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26480" y="352044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text-to-ISL signs system. Directly addresses challenges of mapping text to ISL gestures and generating animations.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26480" y="448056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DL, 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941832"/>
            <a:ext cx="8266176" cy="62179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941832"/>
            <a:ext cx="64008" cy="62179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9784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standardized automated system to translate English text into Indian Sign Language (ISL) gestures via a 3D animated avatar — creating a critical communication barrier for 63 million deaf individuals in India.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4160520" cy="12984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20240"/>
            <a:ext cx="475488" cy="475488"/>
          </a:xfrm>
          <a:prstGeom prst="ellipse">
            <a:avLst/>
          </a:prstGeom>
          <a:solidFill>
            <a:srgbClr val="4B8BF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659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194767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&amp; Slow Tools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40487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ISL tools rely on human-recorded videos — slow to load, hard to scale, and unable to generate new vocabulary on demand.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783080"/>
            <a:ext cx="4160520" cy="12984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920240"/>
            <a:ext cx="475488" cy="475488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9659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50408" y="194767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Avatar-Based ISL Dictionary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40487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publicly available ISL dictionary exists using computer-generated 3D avatars with HamNoSys-based, scalable animation.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160520" cy="12984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429000"/>
            <a:ext cx="475488" cy="475488"/>
          </a:xfrm>
          <a:prstGeom prst="ellipse">
            <a:avLst/>
          </a:prstGeom>
          <a:solidFill>
            <a:srgbClr val="4B8BF5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747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345643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ISL Grammar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91363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omits articles and linking verbs, follows different word order, and uses present-tense only — making direct English translation non-trivial.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291840"/>
            <a:ext cx="4160520" cy="12984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429000"/>
            <a:ext cx="475488" cy="475488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4747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50408" y="345643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Crisis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91363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individuals in hospitals, banks, and schools are forced to rely on expensive human interpreters costing ₹1,500–₹3,000/day.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Methodology / Approach Adopted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960120"/>
            <a:ext cx="1508760" cy="11704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1508760" cy="64008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51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43560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Sentence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20240" y="1545336"/>
            <a:ext cx="173736" cy="0"/>
          </a:xfrm>
          <a:prstGeom prst="line">
            <a:avLst/>
          </a:prstGeom>
          <a:noFill/>
          <a:ln w="25400">
            <a:solidFill>
              <a:srgbClr val="4B8B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93976" y="960120"/>
            <a:ext cx="1508760" cy="11704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93976" y="960120"/>
            <a:ext cx="1508760" cy="6400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2"/>
          <p:cNvSpPr/>
          <p:nvPr/>
        </p:nvSpPr>
        <p:spPr>
          <a:xfrm>
            <a:off x="2093976" y="1051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93976" y="143560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Gloss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93976" y="18745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Restructure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02736" y="1545336"/>
            <a:ext cx="173736" cy="0"/>
          </a:xfrm>
          <a:prstGeom prst="line">
            <a:avLst/>
          </a:prstGeom>
          <a:noFill/>
          <a:ln w="25400">
            <a:solidFill>
              <a:srgbClr val="4B8B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76472" y="960120"/>
            <a:ext cx="1508760" cy="11704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76472" y="960120"/>
            <a:ext cx="1508760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0" name="Text 18"/>
          <p:cNvSpPr/>
          <p:nvPr/>
        </p:nvSpPr>
        <p:spPr>
          <a:xfrm>
            <a:off x="3776472" y="1051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776472" y="143560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HamNoSys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76472" y="18745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Mapping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85232" y="1545336"/>
            <a:ext cx="173736" cy="0"/>
          </a:xfrm>
          <a:prstGeom prst="line">
            <a:avLst/>
          </a:prstGeom>
          <a:noFill/>
          <a:ln w="25400">
            <a:solidFill>
              <a:srgbClr val="4B8B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58968" y="960120"/>
            <a:ext cx="1508760" cy="11704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58968" y="960120"/>
            <a:ext cx="1508760" cy="64008"/>
          </a:xfrm>
          <a:prstGeom prst="rect">
            <a:avLst/>
          </a:prstGeom>
          <a:solidFill>
            <a:srgbClr val="00A88F"/>
          </a:solidFill>
          <a:ln/>
        </p:spPr>
      </p:sp>
      <p:sp>
        <p:nvSpPr>
          <p:cNvPr id="26" name="Text 24"/>
          <p:cNvSpPr/>
          <p:nvPr/>
        </p:nvSpPr>
        <p:spPr>
          <a:xfrm>
            <a:off x="5458968" y="1051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58968" y="143560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58968" y="18745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Animation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67728" y="1545336"/>
            <a:ext cx="173736" cy="0"/>
          </a:xfrm>
          <a:prstGeom prst="line">
            <a:avLst/>
          </a:prstGeom>
          <a:noFill/>
          <a:ln w="25400">
            <a:solidFill>
              <a:srgbClr val="4B8B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41464" y="960120"/>
            <a:ext cx="1508760" cy="11704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41464" y="960120"/>
            <a:ext cx="1508760" cy="6400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32" name="Text 30"/>
          <p:cNvSpPr/>
          <p:nvPr/>
        </p:nvSpPr>
        <p:spPr>
          <a:xfrm>
            <a:off x="7141464" y="1051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141464" y="143560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Avatar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41464" y="18745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Playback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7472" y="2331720"/>
            <a:ext cx="2724912" cy="2468880"/>
          </a:xfrm>
          <a:prstGeom prst="rect">
            <a:avLst/>
          </a:prstGeom>
          <a:solidFill>
            <a:srgbClr val="0D1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7472" y="2331720"/>
            <a:ext cx="2724912" cy="64008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" y="2468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 Generation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4632" y="288036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text is restructured to ISL grammatical order — removing articles (a, an, the), linking verbs, suffixes/prefixes, and reordering noun-adjective pairs to match ISL grammar.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55264" y="2331720"/>
            <a:ext cx="2724912" cy="2468880"/>
          </a:xfrm>
          <a:prstGeom prst="rect">
            <a:avLst/>
          </a:prstGeom>
          <a:solidFill>
            <a:srgbClr val="0D1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55264" y="2331720"/>
            <a:ext cx="2724912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1" name="Text 39"/>
          <p:cNvSpPr/>
          <p:nvPr/>
        </p:nvSpPr>
        <p:spPr>
          <a:xfrm>
            <a:off x="3392424" y="2468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HamNoSys Mapping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392424" y="288036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ISL gloss word is matched against a database of HamNoSys (Hamburg Notation System) codes that encode handshape, orientation, placement, and movement parameters for the sign.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63056" y="2331720"/>
            <a:ext cx="2724912" cy="2468880"/>
          </a:xfrm>
          <a:prstGeom prst="rect">
            <a:avLst/>
          </a:prstGeom>
          <a:solidFill>
            <a:srgbClr val="0D1E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63056" y="2331720"/>
            <a:ext cx="2724912" cy="6400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45" name="Text 43"/>
          <p:cNvSpPr/>
          <p:nvPr/>
        </p:nvSpPr>
        <p:spPr>
          <a:xfrm>
            <a:off x="6300216" y="2468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SiGML &amp; 3D Avatar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300216" y="288036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HamNoSys codes are automatically converted into SiGML (Signing Gesture Markup Language) XML tags. The JA SiGML Player renders these tags as frame-by-frame 3D avatar animations in real time.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Work Completed So Far  (60–70% Project Progress)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960120"/>
            <a:ext cx="4187952" cy="107899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60120"/>
            <a:ext cx="64008" cy="1078992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05156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849 Words Mapped to Animation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39903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849 English words to their corresponding ISL SiGML animation files, each verified for correct gesture rendering.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9744" y="960120"/>
            <a:ext cx="4187952" cy="107899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9744" y="960120"/>
            <a:ext cx="64008" cy="107899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2" name="Text 10"/>
          <p:cNvSpPr/>
          <p:nvPr/>
        </p:nvSpPr>
        <p:spPr>
          <a:xfrm>
            <a:off x="4974336" y="105156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ISL Gloss Generation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74336" y="139903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gloss pipeline that converts English sentences to ISL grammatical structure, removing articles and restructuring word order.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221992"/>
            <a:ext cx="4187952" cy="107899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221992"/>
            <a:ext cx="64008" cy="1078992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31343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HamNoSys → SiGML Conversion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" y="2660904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automated conversion from HamNoSys phonetic codes to SiGML XML animation tags for each individual ISL word.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9744" y="2221992"/>
            <a:ext cx="4187952" cy="107899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9744" y="2221992"/>
            <a:ext cx="64008" cy="107899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36" y="231343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3D Avatar Integration (Marc)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74336" y="2660904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JA SiGML Player with the Marc avatar — performs smooth, real-time sign animations with Replay, Stop, and Complete states.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483864"/>
            <a:ext cx="4187952" cy="107899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483864"/>
            <a:ext cx="64008" cy="107899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" y="3575304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Web Interface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" y="3922776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web UI with English text input, ISL Gloss display section, avatar animation viewer, and quick-try sample phrases.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9744" y="3483864"/>
            <a:ext cx="4187952" cy="107899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9744" y="3483864"/>
            <a:ext cx="64008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974336" y="3575304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Searchable Sign Library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74336" y="3922776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browsable sign library showing all 849 mapped words with instant avatar playback on click — useful for reference and learning.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54864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 Action  –  ISL Translator Screenshots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804672"/>
            <a:ext cx="4096512" cy="320040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04672"/>
            <a:ext cx="4096512" cy="64008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822960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Demo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877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 Welcome" typed in the input field.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Gloss: HELLO   WELCOME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Avatar (Marc) performing both signs in sequence.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/ Stop controls visible.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47872"/>
            <a:ext cx="3730752" cy="320040"/>
          </a:xfrm>
          <a:prstGeom prst="rect">
            <a:avLst/>
          </a:prstGeom>
          <a:solidFill>
            <a:srgbClr val="0D1E3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661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screenshot here 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0016" y="804672"/>
            <a:ext cx="4096512" cy="320040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804672"/>
            <a:ext cx="4096512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4" name="Text 12"/>
          <p:cNvSpPr/>
          <p:nvPr/>
        </p:nvSpPr>
        <p:spPr>
          <a:xfrm>
            <a:off x="4700016" y="822960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Library  –  849 Words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691640"/>
            <a:ext cx="3877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Browsable sign library showing all 849 animated words.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links to a .sigml animation file.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word to watch the avatar perform the sign.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bar for quick search.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82896" y="3547872"/>
            <a:ext cx="3730752" cy="320040"/>
          </a:xfrm>
          <a:prstGeom prst="rect">
            <a:avLst/>
          </a:prstGeom>
          <a:solidFill>
            <a:srgbClr val="0D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882896" y="35661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screenshot here 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Tools and Technologies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171907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697480" cy="64008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HamNoSys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 Notation System — standardized phonetic notation capturing handshape, orientation, placement &amp; movement for every ISL sign.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171907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97480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97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Gesture Markup Language — XML-based animation format that encodes sign movements for playback by any compatible SiGML player.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97480" cy="171907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60120"/>
            <a:ext cx="2697480" cy="6400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97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SiGML Player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50876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3D avatar animation engine. Interprets SiGML files and renders smooth, real-time sign gestures using the Marc 3D avatar.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2697480" cy="171907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80360"/>
            <a:ext cx="2697480" cy="64008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and JavaScript used to build the user-facing interface — text input, gloss display, avatar viewer, and sign library UI.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880360"/>
            <a:ext cx="2697480" cy="171907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880360"/>
            <a:ext cx="2697480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Gloss Processing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4290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pipeline to convert English sentences into ISL gloss notation by removing unsupported linguistic constructs.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880360"/>
            <a:ext cx="2697480" cy="171907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880360"/>
            <a:ext cx="26974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Library Database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4290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database of 849 ISL words, each linked to its corresponding SiGML animation file for fast lookup and instant avatar playback.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Challenges Faced During Development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960120"/>
            <a:ext cx="4206240" cy="17556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124712"/>
            <a:ext cx="475488" cy="475488"/>
          </a:xfrm>
          <a:prstGeom prst="ellipse">
            <a:avLst/>
          </a:prstGeom>
          <a:solidFill>
            <a:srgbClr val="4B8BF5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16128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1612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ISL-HamNoSys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673352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publicly available data maps ISL words to their HamNoSys codes. Required manual annotation and cross-referencing of existing ISL dictionaries.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8032" y="960120"/>
            <a:ext cx="4206240" cy="17556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65192" y="1124712"/>
            <a:ext cx="475488" cy="475488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116128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1612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HamNoSys → SiGML Complexity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1673352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from HamNoSys phonetic notation to SiGML XML tags is highly intricate. Each symbol combination uniquely maps to hand configurations, paths, and orientations.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926080"/>
            <a:ext cx="4206240" cy="17556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" y="3090672"/>
            <a:ext cx="475488" cy="475488"/>
          </a:xfrm>
          <a:prstGeom prst="ellipse">
            <a:avLst/>
          </a:prstGeom>
          <a:solidFill>
            <a:srgbClr val="4B8B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12724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1272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Grammar vs. English Grammar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639312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omits articles, linking verbs, and suffixes; uses different word order; and signs exclusively in present tense — making accurate glossing non-trivial.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28032" y="2926080"/>
            <a:ext cx="4206240" cy="1755648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65192" y="3090672"/>
            <a:ext cx="475488" cy="475488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3" name="Text 21"/>
          <p:cNvSpPr/>
          <p:nvPr/>
        </p:nvSpPr>
        <p:spPr>
          <a:xfrm>
            <a:off x="4965192" y="312724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1272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Indian Avatar in SiGML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65192" y="3639312"/>
            <a:ext cx="3950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SiGML players (eSIGN Editor) support only ASL/BSL sign configurations. A custom SiGML generation system was needed to correctly represent ISL hand formations.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Remaining Work  (30–40%)  &amp;  Future Plan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32688"/>
            <a:ext cx="8229600" cy="2286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32688"/>
            <a:ext cx="5760720" cy="22860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Completed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0" y="1188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Remaining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554480"/>
            <a:ext cx="8449056" cy="7132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554480"/>
            <a:ext cx="64008" cy="713232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0992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1737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Sign Vocabulary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63240" y="1737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Map additional commonly used words beyond 849 — focusing on healthcare, education, travel, and daily-life vocabulary.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395728"/>
            <a:ext cx="8449056" cy="7132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395728"/>
            <a:ext cx="64008" cy="71323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5511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Sentence Translation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63240" y="257860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Implement complete sentence-level ISL translation with gloss reordering and ISL grammar rules applied across multi-word inputs.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236976"/>
            <a:ext cx="8449056" cy="7132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236976"/>
            <a:ext cx="64008" cy="71323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9242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34198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Speech Input Module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063240" y="341985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Integrate speech recognition to accept spoken English, converting speech-to-text before generating ISL avatar animations — enabling hands-free access.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4078224"/>
            <a:ext cx="8449056" cy="7132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4078224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2336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" y="4261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Optimization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063240" y="426110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Conduct user testing with the Deaf community, optimize SiGML animation rendering for speed, and refine gloss accuracy and coverage.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6858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Expected Final Outcome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932688"/>
            <a:ext cx="8266176" cy="65836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932688"/>
            <a:ext cx="64008" cy="65836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969264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web-based ISL Translator that converts English text — and spoken speech — into animated Indian Sign Language gestures performed by a 3D avatar in real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783080"/>
            <a:ext cx="2697480" cy="12801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783080"/>
            <a:ext cx="2697480" cy="64008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Text-to-ISL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2860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English → see ISL gloss → watch 3D avatar perform the correct signs seamlessly and clearly.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783080"/>
            <a:ext cx="2697480" cy="12801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783080"/>
            <a:ext cx="2697480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Support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22860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module enabling hands-free access — useful in classrooms, hospitals, and public kiosks.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1783080"/>
            <a:ext cx="2697480" cy="12801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08192" y="1783080"/>
            <a:ext cx="2697480" cy="6400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Word Sign Library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22860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vocabulary covering education, healthcare, travel, and everyday communication needs.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264408"/>
            <a:ext cx="2697480" cy="12801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264408"/>
            <a:ext cx="2697480" cy="64008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Bridge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37673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tool for deaf individuals in hospitals, banks, schools, and government services.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27832" y="3264408"/>
            <a:ext cx="2697480" cy="12801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27832" y="3264408"/>
            <a:ext cx="2697480" cy="64008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64992" y="37673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HamNoSys-to-ISL mapping corpus — a reusable resource for future NLP and sign language research.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08192" y="3264408"/>
            <a:ext cx="2697480" cy="12801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08192" y="3264408"/>
            <a:ext cx="26974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245352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Platform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45352" y="37673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allows easy addition of new words, regional ISL variants, and future mobile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280160"/>
            <a:ext cx="4754880" cy="26517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1280160"/>
            <a:ext cx="4754880" cy="91440"/>
          </a:xfrm>
          <a:prstGeom prst="rect">
            <a:avLst/>
          </a:prstGeom>
          <a:solidFill>
            <a:srgbClr val="4B8BF5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645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94560" y="24871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&amp;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29992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of Text to Gesture in Sign Language using HamNoSys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0" y="3429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ICS-851  ·  B.Tech CSE  ·  IET Lucknow  ·  2025–26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Translation of Text to Gesture in Sign Language using HamNoSys</dc:title>
  <dc:subject>PptxGenJS Presentation</dc:subject>
  <dc:creator>PptxGenJS</dc:creator>
  <cp:lastModifiedBy>PptxGenJS</cp:lastModifiedBy>
  <cp:revision>1</cp:revision>
  <dcterms:created xsi:type="dcterms:W3CDTF">2026-03-28T03:23:04Z</dcterms:created>
  <dcterms:modified xsi:type="dcterms:W3CDTF">2026-03-28T03:23:04Z</dcterms:modified>
</cp:coreProperties>
</file>